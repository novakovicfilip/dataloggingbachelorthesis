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  <p:sldMasterId id="2147483676" r:id="rId2"/>
  </p:sldMasterIdLst>
  <p:notesMasterIdLst>
    <p:notesMasterId r:id="rId4"/>
  </p:notesMasterIdLst>
  <p:handoutMasterIdLst>
    <p:handoutMasterId r:id="rId5"/>
  </p:handoutMasterIdLst>
  <p:sldIdLst>
    <p:sldId id="289" r:id="rId3"/>
  </p:sldIdLst>
  <p:sldSz cx="30243463" cy="42806938"/>
  <p:notesSz cx="6858000" cy="9144000"/>
  <p:defaultTextStyle>
    <a:defPPr>
      <a:defRPr lang="fr-FR"/>
    </a:defPPr>
    <a:lvl1pPr marL="0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1pPr>
    <a:lvl2pPr marL="1753179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2pPr>
    <a:lvl3pPr marL="3506358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3pPr>
    <a:lvl4pPr marL="5259537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4pPr>
    <a:lvl5pPr marL="701271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5pPr>
    <a:lvl6pPr marL="876589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6pPr>
    <a:lvl7pPr marL="10519075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7pPr>
    <a:lvl8pPr marL="12272254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8pPr>
    <a:lvl9pPr marL="14025433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79"/>
    <p:restoredTop sz="96311"/>
  </p:normalViewPr>
  <p:slideViewPr>
    <p:cSldViewPr snapToGrid="0" snapToObjects="1">
      <p:cViewPr varScale="1">
        <p:scale>
          <a:sx n="17" d="100"/>
          <a:sy n="17" d="100"/>
        </p:scale>
        <p:origin x="381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44183F3-13AF-5A4F-9C5C-8852F40F93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B88AF7E-D3ED-BD4B-A232-B84FB5673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17754-5853-E642-A494-B712EA782523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49FEC1-D668-1F4F-9E78-6400BE8ADC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CE4F1E-D752-934F-8200-039B656964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2064A-0971-F446-A7E0-9C3593E78EC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973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93DE3-EB4F-DD48-B8D6-678A564BF77A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DC20F-9563-D645-9A78-3F1F52D6813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0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4E415161-56DE-D1A1-FDEC-726AF73850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807D36-18DE-A956-BB73-01BF51EBE1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1E53B3C-BBBF-FF8C-6BD1-311A4BB2C14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EA66EB1-8926-6AFF-8F36-5148EB4997A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1B3C343-18A4-00B2-11D8-E365EA4A636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0D2EA5-9F07-C121-F6D6-78A04E9563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2EFE9D8-D422-E38C-314E-E7179AC15323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68E4A21-AD0C-889C-E9AF-BF54E725003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840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0B8CEE5A-DD4D-8629-9DD7-67117DA733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0E490-64DA-CDC3-5BC9-F7BD5199EF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B9B701D-F876-4C10-C22D-BCA3EFC268A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57849F4-E8F1-5C7C-8E52-8465B21163E2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45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160F6E9D-8B71-ABDE-D633-2426FCBEBA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95927F-B4D3-475D-8F5B-79B146621A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053AF61-7BA5-D5A7-5456-F0F253D95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49F13A9-2708-8131-49DF-531356DE4BD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59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B6B604D-A37A-6A2A-8F46-FC6E6D03DE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03E1509-3DCA-ECC8-04E9-9D0A2CC992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D735B2E-7E9A-FE22-60CF-A2958EB57F30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E9A5E5B-4F66-A279-6894-F7606F70AC4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77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4823DDB-CC33-067B-CE0E-CE03929CA8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DF38E28-5085-D8C9-513C-722C96097F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2603BA9-384A-B3A1-6B04-16AC9E2AFFC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BD29D67-ADF7-E93C-893C-9FE66E677A95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26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3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D4529894-8E0A-5DB3-5F06-0B243DC0C4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3C88EA-4E74-F6BB-9815-00D341B398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4360FEC-01A7-9EB6-4F39-6FA8627FEFA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621C141-FF25-F2DC-FEFC-4D38D8A2970E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30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0A9F4354-4995-B4C7-9CA7-AB106C693E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BC0A60-AD13-4595-6A1E-F9E791DBE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E5400BD-B5B0-0E6A-D537-F69AAE9F2F7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19F7F27-42E9-E78A-3A6D-CA8066FF354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58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94356B7C-FEA8-02B6-4A49-3AAB5D0454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DA1DEA-5BA3-7D43-12D1-475B742F591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525FF74-E18F-89B4-3DFC-E99DE00A22F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1877220-A46A-BAEE-2863-A29D6FD87A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32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4F880C78-E260-3B2B-0744-1CC9810BDF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3134545D-BEF9-F3A0-9D20-79817A5FF7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EDFA40C-0C5E-217D-8748-12A89496740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BF6A8B-C498-7F0A-BDC3-FCBA29D40CC3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4B7FA1AF-C93D-01E3-402C-6CED293C56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C83B0B6-E377-4316-E27A-0C9F5400F4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8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9853131A-5A47-89A0-81E4-37951E78B8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6300EC-D0D4-D3E4-D0A2-348156A47E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0B605FD-D4FD-A00A-2370-783EF38820D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37591AB-3D9E-2023-9D25-B4DF7A246A8A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CD5D4A1D-FE9C-26E4-27B0-5F0EB4775C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486E89E-9456-DB60-6B43-270100DFCC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78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E0EA17BF-753F-76BB-BC08-641BBA2635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1C9DED-DB09-31AD-2DF8-262081507B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6536E29-F79C-6963-B6F9-A654232B9D7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40CD993-6F4C-C8DF-07A2-071EBC9B268C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391F5507-503D-7BBF-B4E5-08F9195798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A94963F-536A-F1C2-1EFA-D0B885F3FC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62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B563081-AC5C-2261-FB46-081B6B1841C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0CA6C7-9907-3EF9-678A-9223834531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B7B93EB-BAC6-626E-36AC-83AE9414960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3965B0B-31BB-B102-117E-308F3C8B2CE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DC31F861-047F-9627-CE4B-2B13EA80D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950B45F-0E00-23CE-0613-F7B6F0C681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6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DDC679F-C497-C2A5-0DBE-7F3B5F1E76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0EB330-E608-E00E-0AE6-DEDC05E591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4E2F543B-3793-AEC5-CC48-00244F000220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C382BFC-8FC0-852F-C2D1-02646A63D89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EA71F379-7382-1ED6-EF07-4CED76148E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9697FC-295C-D953-1684-02396BD6BE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66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41F2E5DD-8CA8-B9E0-AB6E-41A3911B9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0E85E8-CBC4-42AC-4EF5-F4258D2953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41B4BEA-061B-A7B5-E965-1C7AC48BF21A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B84F350-648F-4091-198F-CB1045EF8D6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12E415BC-06E8-4C1A-9CFE-E5F4836A3E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A34BAA4-C457-01F4-454D-CE0D7ABE02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76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3EF5CD71-F841-F6B9-0411-AE6F48433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685C40-B4DB-2F94-BBA5-0B5983AB75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C8D8D94-BDCD-A671-F6C1-0C4A9A66572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3B1DAA1-0813-6597-4BC9-A4E9A62D7174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04F3563C-BFF5-6793-011E-BA07F0A995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B5B3E7F-9763-9DDF-EB16-6823957C6D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95" y="-101155"/>
            <a:ext cx="30313952" cy="23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4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134A2CD4-8EDD-9D5A-83CC-068AEC111D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9BBAFC-E831-2CBB-E54D-A355A5B2B3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9B87E1E-42FC-69F8-4C55-6A1B9FAC0D2D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EA342CE-D969-4396-E835-D522F6837C86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884ED545-E7C8-55CD-272A-911919B41A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D9D490-F0F6-5E9C-485F-11C7409DBD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349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55343AA6-DA72-C70C-3DC2-32912DF006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817AFA1-3C76-E37B-24BE-EBDF825399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041DA52-18F9-4C94-70DF-865E148C3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51E5942-127A-B6EB-5106-7D3883596BBF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5B3CECF6-2380-B564-474D-800FA235F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879C9D3-4CD9-0B48-9BDB-0F251D0890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1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2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67" r:id="rId7"/>
    <p:sldLayoutId id="2147483674" r:id="rId8"/>
    <p:sldLayoutId id="214748367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09/01/2025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25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space réservé du texte 60">
            <a:extLst>
              <a:ext uri="{FF2B5EF4-FFF2-40B4-BE49-F238E27FC236}">
                <a16:creationId xmlns:a16="http://schemas.microsoft.com/office/drawing/2014/main" id="{BD86F458-FC0A-854B-5B6D-BADAF11504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062" y="3205590"/>
            <a:ext cx="13285162" cy="6894186"/>
          </a:xfrm>
        </p:spPr>
        <p:txBody>
          <a:bodyPr/>
          <a:lstStyle/>
          <a:p>
            <a:r>
              <a:rPr lang="fr-FR" dirty="0"/>
              <a:t>Analyse et simulation d’un système de monitoring.</a:t>
            </a:r>
          </a:p>
        </p:txBody>
      </p:sp>
      <p:sp>
        <p:nvSpPr>
          <p:cNvPr id="58" name="Sous-titre 57">
            <a:extLst>
              <a:ext uri="{FF2B5EF4-FFF2-40B4-BE49-F238E27FC236}">
                <a16:creationId xmlns:a16="http://schemas.microsoft.com/office/drawing/2014/main" id="{63772F7F-C2B5-82A3-8E3D-700E48ABD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Filip NOVAKOVIC</a:t>
            </a:r>
          </a:p>
        </p:txBody>
      </p:sp>
      <p:pic>
        <p:nvPicPr>
          <p:cNvPr id="23" name="Picture 22" descr="A green circuit board with many small metal components&#10;&#10;Description automatically generated">
            <a:extLst>
              <a:ext uri="{FF2B5EF4-FFF2-40B4-BE49-F238E27FC236}">
                <a16:creationId xmlns:a16="http://schemas.microsoft.com/office/drawing/2014/main" id="{5743B194-CE12-2A85-808A-88D28EC6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363" y="20514093"/>
            <a:ext cx="12170684" cy="7563701"/>
          </a:xfrm>
          <a:prstGeom prst="rect">
            <a:avLst/>
          </a:prstGeom>
        </p:spPr>
      </p:pic>
      <p:pic>
        <p:nvPicPr>
          <p:cNvPr id="25" name="Picture 24" descr="A computer monitor and a device&#10;&#10;Description automatically generated">
            <a:extLst>
              <a:ext uri="{FF2B5EF4-FFF2-40B4-BE49-F238E27FC236}">
                <a16:creationId xmlns:a16="http://schemas.microsoft.com/office/drawing/2014/main" id="{2EBA4D59-D1A3-70BF-4F92-B0E549601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514" y="1801968"/>
            <a:ext cx="12959999" cy="113331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FD6209D-78E3-1D1D-BDF6-8EAC79A9CC36}"/>
              </a:ext>
            </a:extLst>
          </p:cNvPr>
          <p:cNvSpPr txBox="1"/>
          <p:nvPr/>
        </p:nvSpPr>
        <p:spPr>
          <a:xfrm>
            <a:off x="1193062" y="13993793"/>
            <a:ext cx="125949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6000" b="1" u="sng" dirty="0"/>
              <a:t>Monitoring:</a:t>
            </a:r>
          </a:p>
          <a:p>
            <a:pPr algn="just"/>
            <a:r>
              <a:rPr lang="fr-CH" sz="4800" dirty="0"/>
              <a:t>Le </a:t>
            </a:r>
            <a:r>
              <a:rPr lang="fr-CH" sz="4800" dirty="0" err="1"/>
              <a:t>dataloggeur</a:t>
            </a:r>
            <a:r>
              <a:rPr lang="fr-CH" sz="4800" dirty="0"/>
              <a:t> «</a:t>
            </a:r>
            <a:r>
              <a:rPr lang="fr-CH" sz="4800" dirty="0" err="1"/>
              <a:t>eGauge</a:t>
            </a:r>
            <a:r>
              <a:rPr lang="fr-CH" sz="4800" dirty="0"/>
              <a:t>» </a:t>
            </a:r>
            <a:r>
              <a:rPr lang="fr-CH" sz="4800" dirty="0">
                <a:solidFill>
                  <a:schemeClr val="accent1"/>
                </a:solidFill>
              </a:rPr>
              <a:t>(Figure 1) </a:t>
            </a:r>
            <a:r>
              <a:rPr lang="fr-CH" sz="4800" dirty="0"/>
              <a:t>mesure et stocke des mesures de puissance dans son serveur interne </a:t>
            </a:r>
            <a:r>
              <a:rPr lang="fr-CH" sz="4800" dirty="0">
                <a:solidFill>
                  <a:schemeClr val="accent1"/>
                </a:solidFill>
              </a:rPr>
              <a:t>(Figure 2).</a:t>
            </a:r>
          </a:p>
          <a:p>
            <a:pPr algn="just"/>
            <a:r>
              <a:rPr lang="fr-CH" sz="4800" dirty="0"/>
              <a:t>Grâce à lui, il est possible de faire le suivi d’un système électrique.</a:t>
            </a:r>
            <a:endParaRPr lang="fr-CH" sz="4800" b="1" dirty="0"/>
          </a:p>
        </p:txBody>
      </p:sp>
      <p:pic>
        <p:nvPicPr>
          <p:cNvPr id="27" name="Picture 26" descr="A graph with a red line&#10;&#10;Description automatically generated">
            <a:extLst>
              <a:ext uri="{FF2B5EF4-FFF2-40B4-BE49-F238E27FC236}">
                <a16:creationId xmlns:a16="http://schemas.microsoft.com/office/drawing/2014/main" id="{DE9A3399-8DEE-86EA-9C03-35E8EDC0A75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"/>
          <a:stretch/>
        </p:blipFill>
        <p:spPr bwMode="auto">
          <a:xfrm>
            <a:off x="1784178" y="31337694"/>
            <a:ext cx="12051061" cy="6447988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960B22-840F-442C-6242-D3BB769D64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320" y="18733939"/>
            <a:ext cx="12077846" cy="7563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Espace réservé du texte 108">
            <a:extLst>
              <a:ext uri="{FF2B5EF4-FFF2-40B4-BE49-F238E27FC236}">
                <a16:creationId xmlns:a16="http://schemas.microsoft.com/office/drawing/2014/main" id="{EB097A50-127A-CE66-C7B2-1C453E990E74}"/>
              </a:ext>
            </a:extLst>
          </p:cNvPr>
          <p:cNvSpPr txBox="1">
            <a:spLocks/>
          </p:cNvSpPr>
          <p:nvPr/>
        </p:nvSpPr>
        <p:spPr>
          <a:xfrm>
            <a:off x="21188090" y="37365141"/>
            <a:ext cx="7862310" cy="1364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4800" dirty="0"/>
              <a:t>Sous la direction d’Anthony GIRARDIN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B0E7C-1BD3-4BD1-FB7C-2FCCDDC8507E}"/>
              </a:ext>
            </a:extLst>
          </p:cNvPr>
          <p:cNvSpPr txBox="1"/>
          <p:nvPr/>
        </p:nvSpPr>
        <p:spPr>
          <a:xfrm>
            <a:off x="16455490" y="13993793"/>
            <a:ext cx="12594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5400" dirty="0"/>
              <a:t>Après un travail d’analyse </a:t>
            </a:r>
            <a:r>
              <a:rPr lang="fr-CH" sz="5400" dirty="0">
                <a:solidFill>
                  <a:schemeClr val="accent1"/>
                </a:solidFill>
              </a:rPr>
              <a:t>(Figure 3)</a:t>
            </a:r>
            <a:r>
              <a:rPr lang="fr-CH" sz="5400" dirty="0"/>
              <a:t>, il nous est possible de synthétiser les données afin de créer une simulation représentative.</a:t>
            </a:r>
            <a:endParaRPr lang="fr-CH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CC217-B940-BF2A-F98D-D7ECB6F88CDF}"/>
              </a:ext>
            </a:extLst>
          </p:cNvPr>
          <p:cNvSpPr txBox="1"/>
          <p:nvPr/>
        </p:nvSpPr>
        <p:spPr>
          <a:xfrm>
            <a:off x="16455490" y="17210425"/>
            <a:ext cx="1259491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6000" b="1" dirty="0"/>
              <a:t>Simulation des signaux:</a:t>
            </a:r>
          </a:p>
          <a:p>
            <a:pPr algn="just"/>
            <a:r>
              <a:rPr lang="fr-CH" sz="5400" dirty="0"/>
              <a:t>En utilisant un micro-ordinateur Raspberry Pi et d’un générateur de tension </a:t>
            </a:r>
            <a:r>
              <a:rPr lang="fr-CH" sz="5400" dirty="0">
                <a:solidFill>
                  <a:schemeClr val="accent1"/>
                </a:solidFill>
              </a:rPr>
              <a:t>(Figure 4)</a:t>
            </a:r>
            <a:r>
              <a:rPr lang="fr-CH" sz="5400" dirty="0"/>
              <a:t>, il est possible de générer des signaux de nos données en utilisant un code Python.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62FB3-F8B6-AAB2-FA5B-B75A723DC226}"/>
              </a:ext>
            </a:extLst>
          </p:cNvPr>
          <p:cNvSpPr txBox="1"/>
          <p:nvPr/>
        </p:nvSpPr>
        <p:spPr>
          <a:xfrm>
            <a:off x="1478380" y="27079088"/>
            <a:ext cx="12594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6000" b="1" u="sng" dirty="0"/>
              <a:t>Analyse: </a:t>
            </a:r>
          </a:p>
          <a:p>
            <a:pPr algn="just"/>
            <a:r>
              <a:rPr lang="fr-CH" sz="4800" dirty="0"/>
              <a:t>À partir des données du yacht «</a:t>
            </a:r>
            <a:r>
              <a:rPr lang="fr-CH" sz="4800" dirty="0" err="1"/>
              <a:t>Lammouche</a:t>
            </a:r>
            <a:r>
              <a:rPr lang="fr-CH" sz="4800" dirty="0"/>
              <a:t>» équipé de ce </a:t>
            </a:r>
            <a:r>
              <a:rPr lang="fr-CH" sz="4800" dirty="0" err="1"/>
              <a:t>dataloggeur</a:t>
            </a:r>
            <a:r>
              <a:rPr lang="fr-CH" sz="4800" dirty="0"/>
              <a:t>, il nous est possible d’étudier les valeurs typique des consommateurs et producteur d’énergie à bord.</a:t>
            </a:r>
            <a:endParaRPr lang="LID4096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E43BF-E398-63F6-E3B5-A17A89D14C3A}"/>
              </a:ext>
            </a:extLst>
          </p:cNvPr>
          <p:cNvSpPr txBox="1"/>
          <p:nvPr/>
        </p:nvSpPr>
        <p:spPr>
          <a:xfrm>
            <a:off x="1193061" y="10781298"/>
            <a:ext cx="125949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6000" b="1" u="sng" dirty="0"/>
              <a:t>Objectifs:</a:t>
            </a:r>
          </a:p>
          <a:p>
            <a:pPr algn="just"/>
            <a:r>
              <a:rPr lang="fr-CH" sz="4800" dirty="0"/>
              <a:t>Analyse d’un système de monitoring existant et création d’un simulateur à petit échelle.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637E7-5BF6-28EF-F4BE-A016DF15A54D}"/>
              </a:ext>
            </a:extLst>
          </p:cNvPr>
          <p:cNvSpPr txBox="1"/>
          <p:nvPr/>
        </p:nvSpPr>
        <p:spPr>
          <a:xfrm>
            <a:off x="16489363" y="29064247"/>
            <a:ext cx="1259491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6000" b="1" u="sng" dirty="0"/>
              <a:t>Conclusion et suite du projet:</a:t>
            </a:r>
          </a:p>
          <a:p>
            <a:pPr algn="just"/>
            <a:r>
              <a:rPr lang="fr-CH" sz="4800" dirty="0"/>
              <a:t>Ce projet est un environnement où il sera possible d’implémenter des stratégies: Atténuation de pics, optimisation de consommation et ajout d’une batterie par exemple.</a:t>
            </a:r>
          </a:p>
          <a:p>
            <a:pPr algn="just"/>
            <a:r>
              <a:rPr lang="fr-CH" sz="4800" dirty="0"/>
              <a:t>Tout cela uniquement via code, rendant toute expérimentation rapide et sans risque.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F5880B-95D1-05C7-751D-710C8EAB1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0172" y="34702722"/>
            <a:ext cx="4401693" cy="44016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BF5766-ADDE-E49C-C602-431115D8B065}"/>
              </a:ext>
            </a:extLst>
          </p:cNvPr>
          <p:cNvSpPr txBox="1"/>
          <p:nvPr/>
        </p:nvSpPr>
        <p:spPr>
          <a:xfrm>
            <a:off x="18371018" y="12681362"/>
            <a:ext cx="12594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4400" i="1" dirty="0">
                <a:solidFill>
                  <a:schemeClr val="accent1"/>
                </a:solidFill>
              </a:rPr>
              <a:t>Figure 1: Le </a:t>
            </a:r>
            <a:r>
              <a:rPr lang="fr-CH" sz="4400" i="1" dirty="0" err="1">
                <a:solidFill>
                  <a:schemeClr val="accent1"/>
                </a:solidFill>
              </a:rPr>
              <a:t>dataloggeur</a:t>
            </a:r>
            <a:r>
              <a:rPr lang="fr-CH" sz="4400" i="1" dirty="0">
                <a:solidFill>
                  <a:schemeClr val="accent1"/>
                </a:solidFill>
              </a:rPr>
              <a:t> d’</a:t>
            </a:r>
            <a:r>
              <a:rPr lang="fr-CH" sz="4400" i="1" dirty="0" err="1">
                <a:solidFill>
                  <a:schemeClr val="accent1"/>
                </a:solidFill>
              </a:rPr>
              <a:t>eGauge</a:t>
            </a:r>
            <a:endParaRPr lang="fr-CH" sz="4400" i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26674-627B-8BC3-5C24-EF1719975A94}"/>
              </a:ext>
            </a:extLst>
          </p:cNvPr>
          <p:cNvSpPr txBox="1"/>
          <p:nvPr/>
        </p:nvSpPr>
        <p:spPr>
          <a:xfrm>
            <a:off x="1512253" y="26278482"/>
            <a:ext cx="12594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4400" i="1" dirty="0">
                <a:solidFill>
                  <a:schemeClr val="accent1"/>
                </a:solidFill>
              </a:rPr>
              <a:t>Figure 2: La page internet du </a:t>
            </a:r>
            <a:r>
              <a:rPr lang="fr-CH" sz="4400" i="1" dirty="0" err="1">
                <a:solidFill>
                  <a:schemeClr val="accent1"/>
                </a:solidFill>
              </a:rPr>
              <a:t>dataloggeur</a:t>
            </a:r>
            <a:r>
              <a:rPr lang="fr-CH" sz="4400" i="1" dirty="0">
                <a:solidFill>
                  <a:schemeClr val="accent1"/>
                </a:solidFill>
              </a:rPr>
              <a:t> du yacht.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947FC-2F54-1154-26B6-A4F70072229C}"/>
              </a:ext>
            </a:extLst>
          </p:cNvPr>
          <p:cNvSpPr txBox="1"/>
          <p:nvPr/>
        </p:nvSpPr>
        <p:spPr>
          <a:xfrm>
            <a:off x="1664653" y="37790485"/>
            <a:ext cx="125949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4400" i="1" dirty="0">
                <a:solidFill>
                  <a:schemeClr val="accent1"/>
                </a:solidFill>
              </a:rPr>
              <a:t>Figure 3: Analyse par densité gaussienne d’un des générateurs à bord.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D7C15-100F-6A49-9FBB-3CFEA5A8AA7F}"/>
              </a:ext>
            </a:extLst>
          </p:cNvPr>
          <p:cNvSpPr txBox="1"/>
          <p:nvPr/>
        </p:nvSpPr>
        <p:spPr>
          <a:xfrm>
            <a:off x="16489363" y="27491887"/>
            <a:ext cx="125949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4400" i="1" dirty="0">
                <a:solidFill>
                  <a:schemeClr val="accent1"/>
                </a:solidFill>
              </a:rPr>
              <a:t>Figure 4: Le Raspberry Pi  équipé d’un générateur de tension pilotable «CN0554»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BA95C0FF-5CAB-575B-834B-ACDCB248D1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737" r="5737"/>
          <a:stretch/>
        </p:blipFill>
        <p:spPr>
          <a:xfrm>
            <a:off x="16258935" y="34791486"/>
            <a:ext cx="4224166" cy="422416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45230016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Sans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1210</TotalTime>
  <Words>254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1_PROJET Sans encadrant</vt:lpstr>
      <vt:lpstr>1_PROJET Avec encadrant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Novakovic Filip</cp:lastModifiedBy>
  <cp:revision>70</cp:revision>
  <cp:lastPrinted>2022-03-21T14:30:22Z</cp:lastPrinted>
  <dcterms:created xsi:type="dcterms:W3CDTF">2019-04-03T08:54:31Z</dcterms:created>
  <dcterms:modified xsi:type="dcterms:W3CDTF">2025-01-09T10:40:03Z</dcterms:modified>
</cp:coreProperties>
</file>