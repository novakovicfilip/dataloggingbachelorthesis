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5"/>
  </p:notesMasterIdLst>
  <p:handoutMasterIdLst>
    <p:handoutMasterId r:id="rId6"/>
  </p:handoutMasterIdLst>
  <p:sldIdLst>
    <p:sldId id="289" r:id="rId2"/>
    <p:sldId id="292" r:id="rId3"/>
    <p:sldId id="294" r:id="rId4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0" autoAdjust="0"/>
    <p:restoredTop sz="94626"/>
  </p:normalViewPr>
  <p:slideViewPr>
    <p:cSldViewPr snapToGrid="0">
      <p:cViewPr>
        <p:scale>
          <a:sx n="125" d="100"/>
          <a:sy n="125" d="100"/>
        </p:scale>
        <p:origin x="1548" y="34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02F62EA-2FFE-DC47-A045-E876DFF435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30497E-EF12-C749-87F0-5BB4B61A32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35D8A-043F-1A4C-8755-955935A64998}" type="datetimeFigureOut">
              <a:rPr lang="fr-FR" smtClean="0"/>
              <a:t>09/01/2025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262A024-E921-5C42-9651-9C6584CC69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D8915C-E305-DB45-BB0D-F8DA1A3AED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34AF0-9E88-9141-890A-EAAA548CB24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489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B78CA8-3C0C-450E-A9A8-1BF427B2CF19}" type="datetimeFigureOut">
              <a:rPr lang="fr-CH" smtClean="0"/>
              <a:t>09.01.2025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646E2-F36B-4354-BCF5-0A010A16FED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28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3CB8985B-E0F0-3098-F006-537304F92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51" y="590934"/>
            <a:ext cx="5980129" cy="45525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fr-CH" dirty="0"/>
              <a:t>Image projet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D75CFE4C-BCD5-1133-0D76-B315E42D33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4034" y="2934383"/>
            <a:ext cx="1125722" cy="11231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fr-CH" dirty="0"/>
              <a:t>Photo Portrait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661D47-EDA6-1C6D-C0D3-1FF7B9287344}"/>
              </a:ext>
            </a:extLst>
          </p:cNvPr>
          <p:cNvSpPr/>
          <p:nvPr userDrawn="1"/>
        </p:nvSpPr>
        <p:spPr>
          <a:xfrm>
            <a:off x="6217920" y="4446339"/>
            <a:ext cx="2926080" cy="6971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D512A27-DD0B-A517-ECD2-A7FF90720D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9542" y="766299"/>
            <a:ext cx="2570503" cy="1779316"/>
          </a:xfrm>
          <a:prstGeom prst="rect">
            <a:avLst/>
          </a:prstGeom>
        </p:spPr>
        <p:txBody>
          <a:bodyPr lIns="0" anchor="t" anchorCtr="0"/>
          <a:lstStyle>
            <a:lvl1pPr algn="l">
              <a:defRPr sz="20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 projet</a:t>
            </a:r>
            <a:endParaRPr lang="fr-CH" dirty="0"/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549E88E6-CF9B-D7F9-0D39-EDDCE6D30F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88290" y="3315340"/>
            <a:ext cx="2110213" cy="304808"/>
          </a:xfrm>
          <a:ln>
            <a:noFill/>
          </a:ln>
        </p:spPr>
        <p:txBody>
          <a:bodyPr lIns="0" anchor="b" anchorCtr="0">
            <a:noAutofit/>
          </a:bodyPr>
          <a:lstStyle>
            <a:lvl1pPr marL="0" indent="0" algn="l">
              <a:buNone/>
              <a:defRPr sz="1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9BEC319-2FAC-1AF6-CFEF-A768986516DA}"/>
              </a:ext>
            </a:extLst>
          </p:cNvPr>
          <p:cNvCxnSpPr>
            <a:cxnSpLocks/>
          </p:cNvCxnSpPr>
          <p:nvPr userDrawn="1"/>
        </p:nvCxnSpPr>
        <p:spPr>
          <a:xfrm flipH="1">
            <a:off x="6788290" y="3668802"/>
            <a:ext cx="679941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D81E194-7302-A9A5-D5E7-CE64BB486080}"/>
              </a:ext>
            </a:extLst>
          </p:cNvPr>
          <p:cNvCxnSpPr>
            <a:cxnSpLocks/>
          </p:cNvCxnSpPr>
          <p:nvPr userDrawn="1"/>
        </p:nvCxnSpPr>
        <p:spPr>
          <a:xfrm flipH="1">
            <a:off x="6788290" y="3305387"/>
            <a:ext cx="679941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2" descr="Logo_hepia.png">
            <a:extLst>
              <a:ext uri="{FF2B5EF4-FFF2-40B4-BE49-F238E27FC236}">
                <a16:creationId xmlns:a16="http://schemas.microsoft.com/office/drawing/2014/main" id="{6A1F225D-04CF-724F-24FC-1B1D6B5844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96" r="18875" b="17085"/>
          <a:stretch/>
        </p:blipFill>
        <p:spPr bwMode="auto">
          <a:xfrm>
            <a:off x="7581626" y="4613423"/>
            <a:ext cx="1301361" cy="41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3" descr="Logo_HES-SO.png">
            <a:extLst>
              <a:ext uri="{FF2B5EF4-FFF2-40B4-BE49-F238E27FC236}">
                <a16:creationId xmlns:a16="http://schemas.microsoft.com/office/drawing/2014/main" id="{9FBF9795-12E3-592C-7BC9-20756CE72C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232" y="4671287"/>
            <a:ext cx="879549" cy="255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C52F9F0-AC17-1C43-32AD-753AC0A8E21A}"/>
              </a:ext>
            </a:extLst>
          </p:cNvPr>
          <p:cNvCxnSpPr>
            <a:cxnSpLocks/>
          </p:cNvCxnSpPr>
          <p:nvPr userDrawn="1"/>
        </p:nvCxnSpPr>
        <p:spPr>
          <a:xfrm flipH="1">
            <a:off x="6239542" y="4453288"/>
            <a:ext cx="2624788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9B6E9CA-9600-6DFF-1B96-84AD6C6B839B}"/>
              </a:ext>
            </a:extLst>
          </p:cNvPr>
          <p:cNvCxnSpPr>
            <a:cxnSpLocks/>
          </p:cNvCxnSpPr>
          <p:nvPr userDrawn="1"/>
        </p:nvCxnSpPr>
        <p:spPr>
          <a:xfrm flipH="1">
            <a:off x="6239542" y="606121"/>
            <a:ext cx="2624788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F8A243F9-8E58-22A2-4727-7B89BD5FC1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426"/>
            <a:ext cx="9144000" cy="594360"/>
          </a:xfrm>
          <a:prstGeom prst="rect">
            <a:avLst/>
          </a:prstGeom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922285F-4AC5-1CBE-83B3-A7F905B8EB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8714" y="3832237"/>
            <a:ext cx="2175991" cy="374650"/>
          </a:xfrm>
        </p:spPr>
        <p:txBody>
          <a:bodyPr lIns="0" rIns="90000">
            <a:noAutofit/>
          </a:bodyPr>
          <a:lstStyle>
            <a:lvl1pPr marL="0" indent="0">
              <a:buFontTx/>
              <a:buNone/>
              <a:defRPr sz="1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</p:spTree>
    <p:extLst>
      <p:ext uri="{BB962C8B-B14F-4D97-AF65-F5344CB8AC3E}">
        <p14:creationId xmlns:p14="http://schemas.microsoft.com/office/powerpoint/2010/main" val="3892876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1731400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1" kern="1200" cap="all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48B9B58-A806-E8BC-5C71-56356AC1462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2790" b="2790"/>
          <a:stretch/>
        </p:blipFill>
        <p:spPr>
          <a:xfrm>
            <a:off x="204441" y="592571"/>
            <a:ext cx="5199593" cy="3958357"/>
          </a:xfr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AA961654-3CC7-E432-B0EF-3250DF3758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2800" dirty="0"/>
              <a:t>Analyse et simulation d’un système de monitoring.</a:t>
            </a:r>
            <a:br>
              <a:rPr lang="fr-FR" sz="2800" dirty="0"/>
            </a:br>
            <a:endParaRPr lang="fr-FR" sz="2800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F67A867E-C600-F485-E310-C66A622E5F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Filip Novakovic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50E4770-08A3-9C20-B3E9-5110B6C943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88714" y="3832237"/>
            <a:ext cx="2150845" cy="478200"/>
          </a:xfrm>
        </p:spPr>
        <p:txBody>
          <a:bodyPr/>
          <a:lstStyle/>
          <a:p>
            <a:r>
              <a:rPr lang="fr-FR" sz="1100" dirty="0"/>
              <a:t>Sous la direction d’Anthony GIRARDIN</a:t>
            </a:r>
          </a:p>
        </p:txBody>
      </p:sp>
      <p:pic>
        <p:nvPicPr>
          <p:cNvPr id="9" name="Picture Placeholder 2">
            <a:extLst>
              <a:ext uri="{FF2B5EF4-FFF2-40B4-BE49-F238E27FC236}">
                <a16:creationId xmlns:a16="http://schemas.microsoft.com/office/drawing/2014/main" id="{8C222183-2FEA-CB28-EC33-F19723DB6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37" r="5737"/>
          <a:stretch/>
        </p:blipFill>
        <p:spPr>
          <a:xfrm>
            <a:off x="5589207" y="3281152"/>
            <a:ext cx="1013486" cy="1013486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23344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62F4E-F386-B939-31C7-DCDA41D9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4">
            <a:extLst>
              <a:ext uri="{FF2B5EF4-FFF2-40B4-BE49-F238E27FC236}">
                <a16:creationId xmlns:a16="http://schemas.microsoft.com/office/drawing/2014/main" id="{60E61530-76A5-5692-52F6-7B7895EDA6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Filip Novakovic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F2EA5CE-4CBA-37C7-9F61-8EDF236371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88714" y="3832237"/>
            <a:ext cx="2150845" cy="478200"/>
          </a:xfrm>
        </p:spPr>
        <p:txBody>
          <a:bodyPr/>
          <a:lstStyle/>
          <a:p>
            <a:r>
              <a:rPr lang="fr-FR" sz="1100" dirty="0"/>
              <a:t>Sous la direction d’Anthony GIRARDIN</a:t>
            </a:r>
          </a:p>
        </p:txBody>
      </p:sp>
      <p:pic>
        <p:nvPicPr>
          <p:cNvPr id="9" name="Picture Placeholder 2">
            <a:extLst>
              <a:ext uri="{FF2B5EF4-FFF2-40B4-BE49-F238E27FC236}">
                <a16:creationId xmlns:a16="http://schemas.microsoft.com/office/drawing/2014/main" id="{DE9F609F-1F39-6EB6-0527-DECD6D075E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7" r="5737"/>
          <a:stretch/>
        </p:blipFill>
        <p:spPr>
          <a:xfrm>
            <a:off x="5589207" y="3281152"/>
            <a:ext cx="1013486" cy="1013486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68DE22-1B68-4F6F-D9BE-A905D4B93A51}"/>
              </a:ext>
            </a:extLst>
          </p:cNvPr>
          <p:cNvSpPr txBox="1"/>
          <p:nvPr/>
        </p:nvSpPr>
        <p:spPr>
          <a:xfrm>
            <a:off x="239115" y="563848"/>
            <a:ext cx="5350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u="sng" dirty="0"/>
              <a:t>Objectifs:</a:t>
            </a:r>
          </a:p>
          <a:p>
            <a:pPr algn="just"/>
            <a:r>
              <a:rPr lang="fr-CH" sz="1800" dirty="0"/>
              <a:t>Créer un simulateur de «monitoring» à petit échelle.</a:t>
            </a:r>
          </a:p>
          <a:p>
            <a:pPr algn="just"/>
            <a:endParaRPr lang="fr-CH" dirty="0"/>
          </a:p>
          <a:p>
            <a:pPr algn="just"/>
            <a:endParaRPr lang="fr-CH" dirty="0"/>
          </a:p>
        </p:txBody>
      </p:sp>
      <p:pic>
        <p:nvPicPr>
          <p:cNvPr id="15" name="Image 1" descr="Une image contenant routeur, Appareils électroniques&#10;&#10;Description générée automatiquement">
            <a:extLst>
              <a:ext uri="{FF2B5EF4-FFF2-40B4-BE49-F238E27FC236}">
                <a16:creationId xmlns:a16="http://schemas.microsoft.com/office/drawing/2014/main" id="{B692F95F-4A53-2DAF-24DB-B41523AC36A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2" t="9842" r="14994" b="9580"/>
          <a:stretch/>
        </p:blipFill>
        <p:spPr bwMode="auto">
          <a:xfrm>
            <a:off x="4105688" y="1291170"/>
            <a:ext cx="1368004" cy="1584126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44A6CB-90A8-A618-CFB7-C0CB540A536D}"/>
              </a:ext>
            </a:extLst>
          </p:cNvPr>
          <p:cNvSpPr txBox="1"/>
          <p:nvPr/>
        </p:nvSpPr>
        <p:spPr>
          <a:xfrm>
            <a:off x="204441" y="2571750"/>
            <a:ext cx="3772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C’est un appareil qui mesure des puissance à ses entrées et qui note sa valeur à la date et l’heure actuelle.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66DE62-DAD8-BEEC-D475-879C21C3CAEF}"/>
              </a:ext>
            </a:extLst>
          </p:cNvPr>
          <p:cNvSpPr txBox="1"/>
          <p:nvPr/>
        </p:nvSpPr>
        <p:spPr>
          <a:xfrm>
            <a:off x="239115" y="3640948"/>
            <a:ext cx="52960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dirty="0"/>
              <a:t>Ceci va faire une base de donnée nous permettant d’analyser le comportement d’un système et de pouvoir de recréer un environnement numérique similaire.</a:t>
            </a:r>
            <a:endParaRPr lang="fr-CH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64C8D1-CA32-B53D-68C8-D468E5CD1355}"/>
              </a:ext>
            </a:extLst>
          </p:cNvPr>
          <p:cNvSpPr txBox="1"/>
          <p:nvPr/>
        </p:nvSpPr>
        <p:spPr>
          <a:xfrm>
            <a:off x="3909202" y="2906763"/>
            <a:ext cx="17609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1200" dirty="0">
                <a:solidFill>
                  <a:schemeClr val="accent1"/>
                </a:solidFill>
              </a:rPr>
              <a:t>Le </a:t>
            </a:r>
            <a:r>
              <a:rPr lang="fr-CH" sz="1200" dirty="0" err="1">
                <a:solidFill>
                  <a:schemeClr val="accent1"/>
                </a:solidFill>
              </a:rPr>
              <a:t>dataloggeur</a:t>
            </a:r>
            <a:r>
              <a:rPr lang="fr-CH" sz="1200" dirty="0">
                <a:solidFill>
                  <a:schemeClr val="accent1"/>
                </a:solidFill>
              </a:rPr>
              <a:t> «</a:t>
            </a:r>
            <a:r>
              <a:rPr lang="fr-CH" sz="1200" dirty="0" err="1">
                <a:solidFill>
                  <a:schemeClr val="accent1"/>
                </a:solidFill>
              </a:rPr>
              <a:t>eGauge</a:t>
            </a:r>
            <a:r>
              <a:rPr lang="fr-CH" sz="1200" dirty="0">
                <a:solidFill>
                  <a:schemeClr val="accent1"/>
                </a:solidFill>
              </a:rPr>
              <a:t>»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AA8876E-FE07-F39E-8CF7-5645E24591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839" y="792427"/>
            <a:ext cx="3023720" cy="18935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4FEEFA2-4452-D1D3-5CA7-7B7673B3096E}"/>
              </a:ext>
            </a:extLst>
          </p:cNvPr>
          <p:cNvSpPr txBox="1"/>
          <p:nvPr/>
        </p:nvSpPr>
        <p:spPr>
          <a:xfrm>
            <a:off x="217445" y="1249249"/>
            <a:ext cx="377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800" dirty="0"/>
              <a:t>Afin de pouvoir surveiller la consommation électrique d’un système, on peut mettre en place un «</a:t>
            </a:r>
            <a:r>
              <a:rPr lang="fr-CH" sz="1800" dirty="0" err="1"/>
              <a:t>Dataloggeur</a:t>
            </a:r>
            <a:r>
              <a:rPr lang="fr-CH" sz="1800" dirty="0"/>
              <a:t>».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0DDF07-5DAE-EA07-7DCF-C882E9C6A064}"/>
              </a:ext>
            </a:extLst>
          </p:cNvPr>
          <p:cNvSpPr txBox="1"/>
          <p:nvPr/>
        </p:nvSpPr>
        <p:spPr>
          <a:xfrm>
            <a:off x="5711610" y="2644463"/>
            <a:ext cx="34323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1200" dirty="0">
                <a:solidFill>
                  <a:schemeClr val="accent1"/>
                </a:solidFill>
              </a:rPr>
              <a:t>Ce qu’on peut voir en se connectant au </a:t>
            </a:r>
            <a:r>
              <a:rPr lang="fr-CH" sz="1200" dirty="0" err="1">
                <a:solidFill>
                  <a:schemeClr val="accent1"/>
                </a:solidFill>
              </a:rPr>
              <a:t>dataloggeur</a:t>
            </a:r>
            <a:r>
              <a:rPr lang="fr-CH" sz="1200" dirty="0">
                <a:solidFill>
                  <a:schemeClr val="accent1"/>
                </a:solidFill>
              </a:rPr>
              <a:t>, il graphe la puissance en fonction du temps.</a:t>
            </a:r>
          </a:p>
        </p:txBody>
      </p:sp>
    </p:spTree>
    <p:extLst>
      <p:ext uri="{BB962C8B-B14F-4D97-AF65-F5344CB8AC3E}">
        <p14:creationId xmlns:p14="http://schemas.microsoft.com/office/powerpoint/2010/main" val="1150170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A3F5-BA8D-0E1F-9848-616F018DC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4">
            <a:extLst>
              <a:ext uri="{FF2B5EF4-FFF2-40B4-BE49-F238E27FC236}">
                <a16:creationId xmlns:a16="http://schemas.microsoft.com/office/drawing/2014/main" id="{9F37D08F-2874-77B4-77DF-0EDDBEA08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Filip Novakovic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98B1DEA-044B-81E1-5AB9-584410DB02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88714" y="3832237"/>
            <a:ext cx="2150845" cy="478200"/>
          </a:xfrm>
        </p:spPr>
        <p:txBody>
          <a:bodyPr/>
          <a:lstStyle/>
          <a:p>
            <a:r>
              <a:rPr lang="fr-FR" sz="1100" dirty="0"/>
              <a:t>Sous la direction d’Anthony GIRARDIN</a:t>
            </a:r>
          </a:p>
        </p:txBody>
      </p:sp>
      <p:pic>
        <p:nvPicPr>
          <p:cNvPr id="9" name="Picture Placeholder 2">
            <a:extLst>
              <a:ext uri="{FF2B5EF4-FFF2-40B4-BE49-F238E27FC236}">
                <a16:creationId xmlns:a16="http://schemas.microsoft.com/office/drawing/2014/main" id="{37F4D870-C7BA-8FF7-14B6-B5590DAB3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7" r="5737"/>
          <a:stretch/>
        </p:blipFill>
        <p:spPr>
          <a:xfrm>
            <a:off x="5589207" y="3281152"/>
            <a:ext cx="1013486" cy="1013486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D89AB6-2C35-A7EB-33F8-FB394F8F53EB}"/>
              </a:ext>
            </a:extLst>
          </p:cNvPr>
          <p:cNvSpPr txBox="1"/>
          <p:nvPr/>
        </p:nvSpPr>
        <p:spPr>
          <a:xfrm>
            <a:off x="135861" y="719997"/>
            <a:ext cx="53712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800" dirty="0"/>
              <a:t>Avec les données qu’on a mesurés, on va pouvoir identifier les habitudes des différents appareils </a:t>
            </a:r>
          </a:p>
          <a:p>
            <a:endParaRPr lang="fr-CH" dirty="0"/>
          </a:p>
          <a:p>
            <a:r>
              <a:rPr lang="fr-CH" sz="1800" dirty="0"/>
              <a:t>Grâce à notre simulateur, il sera possible de recréer</a:t>
            </a:r>
          </a:p>
          <a:p>
            <a:r>
              <a:rPr lang="fr-CH" dirty="0"/>
              <a:t>l</a:t>
            </a:r>
            <a:r>
              <a:rPr lang="fr-CH" sz="1800" dirty="0"/>
              <a:t>es même conditions que dans le bateau.</a:t>
            </a:r>
          </a:p>
          <a:p>
            <a:r>
              <a:rPr lang="fr-CH" dirty="0"/>
              <a:t>Ainsi, nous pouvons expérimenter avec le système</a:t>
            </a:r>
          </a:p>
          <a:p>
            <a:r>
              <a:rPr lang="fr-CH" dirty="0"/>
              <a:t>dans le but de réduire sa consommation.</a:t>
            </a:r>
          </a:p>
        </p:txBody>
      </p:sp>
      <p:pic>
        <p:nvPicPr>
          <p:cNvPr id="2" name="Picture 1" descr="A graph with a red line&#10;&#10;Description automatically generated">
            <a:extLst>
              <a:ext uri="{FF2B5EF4-FFF2-40B4-BE49-F238E27FC236}">
                <a16:creationId xmlns:a16="http://schemas.microsoft.com/office/drawing/2014/main" id="{F75CD6E4-4177-B7E0-8FB1-E6B39EC88C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"/>
          <a:stretch/>
        </p:blipFill>
        <p:spPr bwMode="auto">
          <a:xfrm>
            <a:off x="5216966" y="848862"/>
            <a:ext cx="3590925" cy="1902460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 descr="A close-up of a green circuit board&#10;&#10;Description automatically generated">
            <a:extLst>
              <a:ext uri="{FF2B5EF4-FFF2-40B4-BE49-F238E27FC236}">
                <a16:creationId xmlns:a16="http://schemas.microsoft.com/office/drawing/2014/main" id="{13839F11-03CA-B15E-F803-D21011CC5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64" y="2870167"/>
            <a:ext cx="3031327" cy="17509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6B081C-3CBF-E0B3-34AB-58DA33E099F5}"/>
              </a:ext>
            </a:extLst>
          </p:cNvPr>
          <p:cNvSpPr txBox="1"/>
          <p:nvPr/>
        </p:nvSpPr>
        <p:spPr>
          <a:xfrm>
            <a:off x="3173091" y="2985591"/>
            <a:ext cx="27597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Le simulateur est un</a:t>
            </a:r>
          </a:p>
          <a:p>
            <a:r>
              <a:rPr lang="fr-CH" dirty="0"/>
              <a:t>micro-ordinateur</a:t>
            </a:r>
          </a:p>
          <a:p>
            <a:r>
              <a:rPr lang="fr-CH" dirty="0"/>
              <a:t>«Raspberry pi».</a:t>
            </a:r>
          </a:p>
          <a:p>
            <a:br>
              <a:rPr lang="fr-CH" dirty="0"/>
            </a:br>
            <a:r>
              <a:rPr lang="fr-CH" dirty="0"/>
              <a:t>On va pouvoir le coder</a:t>
            </a:r>
          </a:p>
          <a:p>
            <a:r>
              <a:rPr lang="fr-CH" dirty="0"/>
              <a:t>et générer des signaux similaire à ceux du yacht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E4724-8AF1-BDE3-E3AA-2C1EC6425565}"/>
              </a:ext>
            </a:extLst>
          </p:cNvPr>
          <p:cNvSpPr txBox="1"/>
          <p:nvPr/>
        </p:nvSpPr>
        <p:spPr>
          <a:xfrm>
            <a:off x="5157760" y="2751322"/>
            <a:ext cx="5371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>
                <a:solidFill>
                  <a:schemeClr val="accent1"/>
                </a:solidFill>
              </a:rPr>
              <a:t>Probabilité qu’un générateur produise une certaine puissance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0481F9-FA35-27E4-1F89-05F1DF910672}"/>
              </a:ext>
            </a:extLst>
          </p:cNvPr>
          <p:cNvSpPr txBox="1"/>
          <p:nvPr/>
        </p:nvSpPr>
        <p:spPr>
          <a:xfrm>
            <a:off x="86946" y="4680494"/>
            <a:ext cx="3140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>
                <a:solidFill>
                  <a:schemeClr val="accent1"/>
                </a:solidFill>
              </a:rPr>
              <a:t>Le </a:t>
            </a:r>
            <a:r>
              <a:rPr lang="fr-CH" sz="1200" dirty="0" err="1">
                <a:solidFill>
                  <a:schemeClr val="accent1"/>
                </a:solidFill>
              </a:rPr>
              <a:t>Rasberry</a:t>
            </a:r>
            <a:r>
              <a:rPr lang="fr-CH" sz="1200" dirty="0">
                <a:solidFill>
                  <a:schemeClr val="accent1"/>
                </a:solidFill>
              </a:rPr>
              <a:t> équipé d’un générateur de tension</a:t>
            </a:r>
          </a:p>
        </p:txBody>
      </p:sp>
    </p:spTree>
    <p:extLst>
      <p:ext uri="{BB962C8B-B14F-4D97-AF65-F5344CB8AC3E}">
        <p14:creationId xmlns:p14="http://schemas.microsoft.com/office/powerpoint/2010/main" val="1334828696"/>
      </p:ext>
    </p:extLst>
  </p:cSld>
  <p:clrMapOvr>
    <a:masterClrMapping/>
  </p:clrMapOvr>
</p:sld>
</file>

<file path=ppt/theme/theme1.xml><?xml version="1.0" encoding="utf-8"?>
<a:theme xmlns:a="http://schemas.openxmlformats.org/drawingml/2006/main" name="1_PROJET Avec encadra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ITI_Modèle_présentation_diplôme</Template>
  <TotalTime>1042</TotalTime>
  <Words>220</Words>
  <Application>Microsoft Office PowerPoint</Application>
  <PresentationFormat>On-screen Show (16:9)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1_PROJET Avec encadrant</vt:lpstr>
      <vt:lpstr>Analyse et simulation d’un système de monitoring.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de Microsoft Office</dc:creator>
  <cp:lastModifiedBy>Novakovic Filip</cp:lastModifiedBy>
  <cp:revision>40</cp:revision>
  <dcterms:created xsi:type="dcterms:W3CDTF">2018-03-15T13:34:35Z</dcterms:created>
  <dcterms:modified xsi:type="dcterms:W3CDTF">2025-01-09T10:39:42Z</dcterms:modified>
</cp:coreProperties>
</file>